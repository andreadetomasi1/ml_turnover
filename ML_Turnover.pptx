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10287000" cx="18288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g5Vw78G+FJOG9tIofwh9lfF8YK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83853F-E72E-46F3-81C5-204D103E369A}">
  <a:tblStyle styleId="{5B83853F-E72E-46F3-81C5-204D103E369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Medium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Montserrat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4fe2519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94fe25193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4fe25193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94fe25193b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b5345b2ac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9b5345b2a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c1bae275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9c1bae2759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bbba3f5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39bbba3f57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c1bae275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39c1bae2759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bbba3f57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g39bbba3f57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0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body"/>
          </p:nvPr>
        </p:nvSpPr>
        <p:spPr>
          <a:xfrm>
            <a:off x="1143000" y="2476500"/>
            <a:ext cx="15925800" cy="7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1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12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 Medium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" type="body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3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/>
          <p:nvPr>
            <p:ph type="title"/>
          </p:nvPr>
        </p:nvSpPr>
        <p:spPr>
          <a:xfrm>
            <a:off x="1143000" y="876300"/>
            <a:ext cx="15925800" cy="1135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" type="body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1143000" y="876300"/>
            <a:ext cx="15925800" cy="1135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1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57201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1" name="Google Shape;41;p15"/>
          <p:cNvSpPr txBox="1"/>
          <p:nvPr>
            <p:ph idx="3" type="body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5"/>
          <p:cNvSpPr txBox="1"/>
          <p:nvPr>
            <p:ph idx="4" type="body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15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15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5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type="title"/>
          </p:nvPr>
        </p:nvSpPr>
        <p:spPr>
          <a:xfrm>
            <a:off x="1143000" y="876300"/>
            <a:ext cx="15925800" cy="1135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6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/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" type="body"/>
          </p:nvPr>
        </p:nvSpPr>
        <p:spPr>
          <a:xfrm>
            <a:off x="3575050" y="273052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4" name="Google Shape;54;p17"/>
          <p:cNvSpPr txBox="1"/>
          <p:nvPr>
            <p:ph idx="2" type="body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143000" y="876300"/>
            <a:ext cx="15925800" cy="1135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" type="body"/>
          </p:nvPr>
        </p:nvSpPr>
        <p:spPr>
          <a:xfrm rot="5400000">
            <a:off x="5524500" y="-1905000"/>
            <a:ext cx="7162800" cy="15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9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20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1143000" y="876300"/>
            <a:ext cx="15925800" cy="1135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1143000" y="876300"/>
            <a:ext cx="15925800" cy="1135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  <a:defRPr b="1" i="0" sz="44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1143000" y="2476500"/>
            <a:ext cx="15925800" cy="7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5"/>
          <p:cNvSpPr/>
          <p:nvPr/>
        </p:nvSpPr>
        <p:spPr>
          <a:xfrm>
            <a:off x="8920262" y="-1181099"/>
            <a:ext cx="13664394" cy="13283465"/>
          </a:xfrm>
          <a:custGeom>
            <a:rect b="b" l="l" r="r" t="t"/>
            <a:pathLst>
              <a:path extrusionOk="0" h="6349975" w="6532073">
                <a:moveTo>
                  <a:pt x="6532073" y="3175025"/>
                </a:moveTo>
                <a:cubicBezTo>
                  <a:pt x="6532073" y="4928451"/>
                  <a:pt x="5069791" y="6349975"/>
                  <a:pt x="3266037" y="6349975"/>
                </a:cubicBezTo>
                <a:cubicBezTo>
                  <a:pt x="1462257" y="6349975"/>
                  <a:pt x="0" y="4928451"/>
                  <a:pt x="0" y="3175025"/>
                </a:cubicBezTo>
                <a:cubicBezTo>
                  <a:pt x="0" y="1421511"/>
                  <a:pt x="1462257" y="0"/>
                  <a:pt x="3266037" y="0"/>
                </a:cubicBezTo>
                <a:cubicBezTo>
                  <a:pt x="5069817" y="0"/>
                  <a:pt x="6532073" y="1421511"/>
                  <a:pt x="6532073" y="3175025"/>
                </a:cubicBezTo>
                <a:close/>
              </a:path>
            </a:pathLst>
          </a:custGeom>
          <a:solidFill>
            <a:srgbClr val="050A3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5"/>
          <p:cNvSpPr txBox="1"/>
          <p:nvPr/>
        </p:nvSpPr>
        <p:spPr>
          <a:xfrm>
            <a:off x="3893473" y="8000229"/>
            <a:ext cx="10823847" cy="1726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Giovanna Pichierri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Andrea De Tomasi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Gianluca Chiarello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5"/>
          <p:cNvSpPr txBox="1"/>
          <p:nvPr/>
        </p:nvSpPr>
        <p:spPr>
          <a:xfrm>
            <a:off x="1044492" y="3004002"/>
            <a:ext cx="9344526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en-US" sz="7000" u="none" cap="none" strike="noStrike">
                <a:solidFill>
                  <a:srgbClr val="050A30"/>
                </a:solidFill>
                <a:latin typeface="Montserrat"/>
                <a:ea typeface="Montserrat"/>
                <a:cs typeface="Montserrat"/>
                <a:sym typeface="Montserrat"/>
              </a:rPr>
              <a:t>HR Turnover</a:t>
            </a:r>
            <a:endParaRPr b="0" i="0" sz="7000" u="none" cap="none" strike="noStrike">
              <a:solidFill>
                <a:srgbClr val="050A3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25"/>
          <p:cNvSpPr txBox="1"/>
          <p:nvPr/>
        </p:nvSpPr>
        <p:spPr>
          <a:xfrm>
            <a:off x="1044492" y="534545"/>
            <a:ext cx="7547247" cy="575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24 Ottobre 2025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5"/>
          <p:cNvSpPr txBox="1"/>
          <p:nvPr/>
        </p:nvSpPr>
        <p:spPr>
          <a:xfrm>
            <a:off x="12206380" y="9208894"/>
            <a:ext cx="11686879" cy="575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Statistical Modelling and Machine Learning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25"/>
          <p:cNvPicPr preferRelativeResize="0"/>
          <p:nvPr/>
        </p:nvPicPr>
        <p:blipFill rotWithShape="1">
          <a:blip r:embed="rId3">
            <a:alphaModFix/>
          </a:blip>
          <a:srcRect b="0" l="57911" r="0" t="0"/>
          <a:stretch/>
        </p:blipFill>
        <p:spPr>
          <a:xfrm>
            <a:off x="1044492" y="7733424"/>
            <a:ext cx="1925059" cy="199343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5"/>
          <p:cNvSpPr txBox="1"/>
          <p:nvPr/>
        </p:nvSpPr>
        <p:spPr>
          <a:xfrm>
            <a:off x="1128909" y="4541184"/>
            <a:ext cx="746283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50A30"/>
                </a:solidFill>
                <a:latin typeface="Montserrat"/>
                <a:ea typeface="Montserrat"/>
                <a:cs typeface="Montserrat"/>
                <a:sym typeface="Montserrat"/>
              </a:rPr>
              <a:t>Tecniche di Machine Learning per mitigare l’effetto rotazione del personale</a:t>
            </a:r>
            <a:endParaRPr b="0" i="0" sz="2400" u="none" cap="none" strike="noStrike">
              <a:solidFill>
                <a:srgbClr val="050A3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A person running through doors&#10;&#10;AI-generated content may be incorrect." id="90" name="Google Shape;90;p25"/>
          <p:cNvPicPr preferRelativeResize="0"/>
          <p:nvPr/>
        </p:nvPicPr>
        <p:blipFill rotWithShape="1">
          <a:blip r:embed="rId4">
            <a:alphaModFix amt="89000"/>
          </a:blip>
          <a:srcRect b="0" l="0" r="0" t="0"/>
          <a:stretch/>
        </p:blipFill>
        <p:spPr>
          <a:xfrm>
            <a:off x="8807968" y="684351"/>
            <a:ext cx="10577389" cy="7049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/>
          <p:nvPr/>
        </p:nvSpPr>
        <p:spPr>
          <a:xfrm>
            <a:off x="10013406" y="5218624"/>
            <a:ext cx="319604" cy="285896"/>
          </a:xfrm>
          <a:prstGeom prst="rect">
            <a:avLst/>
          </a:prstGeom>
          <a:solidFill>
            <a:srgbClr val="050A3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6"/>
          <p:cNvSpPr/>
          <p:nvPr/>
        </p:nvSpPr>
        <p:spPr>
          <a:xfrm>
            <a:off x="10013406" y="6721012"/>
            <a:ext cx="319604" cy="285896"/>
          </a:xfrm>
          <a:prstGeom prst="rect">
            <a:avLst/>
          </a:prstGeom>
          <a:solidFill>
            <a:srgbClr val="050A3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26"/>
          <p:cNvGrpSpPr/>
          <p:nvPr/>
        </p:nvGrpSpPr>
        <p:grpSpPr>
          <a:xfrm>
            <a:off x="10999760" y="2025008"/>
            <a:ext cx="6402043" cy="628532"/>
            <a:chOff x="0" y="-38100"/>
            <a:chExt cx="8536056" cy="838044"/>
          </a:xfrm>
        </p:grpSpPr>
        <p:sp>
          <p:nvSpPr>
            <p:cNvPr id="98" name="Google Shape;98;p26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6"/>
            <p:cNvSpPr txBox="1"/>
            <p:nvPr/>
          </p:nvSpPr>
          <p:spPr>
            <a:xfrm>
              <a:off x="1345498" y="133350"/>
              <a:ext cx="7190558" cy="666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Contesto e Obiettivi</a:t>
              </a:r>
              <a:endParaRPr b="0" i="0" sz="2499" u="none" cap="none" strike="noStrike">
                <a:solidFill>
                  <a:srgbClr val="050A3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0" name="Google Shape;100;p26"/>
          <p:cNvGrpSpPr/>
          <p:nvPr/>
        </p:nvGrpSpPr>
        <p:grpSpPr>
          <a:xfrm>
            <a:off x="10999760" y="3527397"/>
            <a:ext cx="6402043" cy="615618"/>
            <a:chOff x="0" y="-38100"/>
            <a:chExt cx="8536056" cy="820825"/>
          </a:xfrm>
        </p:grpSpPr>
        <p:sp>
          <p:nvSpPr>
            <p:cNvPr id="101" name="Google Shape;101;p26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6"/>
            <p:cNvSpPr txBox="1"/>
            <p:nvPr/>
          </p:nvSpPr>
          <p:spPr>
            <a:xfrm>
              <a:off x="1345498" y="133349"/>
              <a:ext cx="7190558" cy="5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Analisi e Pre-Processing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6"/>
          <p:cNvGrpSpPr/>
          <p:nvPr/>
        </p:nvGrpSpPr>
        <p:grpSpPr>
          <a:xfrm>
            <a:off x="10999760" y="5029785"/>
            <a:ext cx="6402043" cy="628532"/>
            <a:chOff x="0" y="-38100"/>
            <a:chExt cx="8536056" cy="838044"/>
          </a:xfrm>
        </p:grpSpPr>
        <p:sp>
          <p:nvSpPr>
            <p:cNvPr id="104" name="Google Shape;104;p26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6"/>
            <p:cNvSpPr txBox="1"/>
            <p:nvPr/>
          </p:nvSpPr>
          <p:spPr>
            <a:xfrm>
              <a:off x="1345498" y="133350"/>
              <a:ext cx="7190558" cy="666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Assessment tra Modelli e scelta</a:t>
              </a:r>
              <a:endParaRPr b="0" i="0" sz="2499" u="none" cap="none" strike="noStrike">
                <a:solidFill>
                  <a:srgbClr val="050A3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6" name="Google Shape;106;p26"/>
          <p:cNvGrpSpPr/>
          <p:nvPr/>
        </p:nvGrpSpPr>
        <p:grpSpPr>
          <a:xfrm>
            <a:off x="10999760" y="6532175"/>
            <a:ext cx="6402043" cy="628532"/>
            <a:chOff x="0" y="-38100"/>
            <a:chExt cx="8536056" cy="838044"/>
          </a:xfrm>
        </p:grpSpPr>
        <p:sp>
          <p:nvSpPr>
            <p:cNvPr id="107" name="Google Shape;107;p26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6"/>
            <p:cNvSpPr txBox="1"/>
            <p:nvPr/>
          </p:nvSpPr>
          <p:spPr>
            <a:xfrm>
              <a:off x="1345498" y="133350"/>
              <a:ext cx="7190558" cy="666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Conclusioni</a:t>
              </a:r>
              <a:endParaRPr b="0" i="0" sz="2499" u="none" cap="none" strike="noStrike">
                <a:solidFill>
                  <a:srgbClr val="050A3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09" name="Google Shape;109;p26"/>
          <p:cNvSpPr/>
          <p:nvPr/>
        </p:nvSpPr>
        <p:spPr>
          <a:xfrm>
            <a:off x="-5333999" y="-1498231"/>
            <a:ext cx="14023305" cy="13283465"/>
          </a:xfrm>
          <a:custGeom>
            <a:rect b="b" l="l" r="r" t="t"/>
            <a:pathLst>
              <a:path extrusionOk="0" h="6349975" w="6907465">
                <a:moveTo>
                  <a:pt x="6907465" y="3175025"/>
                </a:moveTo>
                <a:cubicBezTo>
                  <a:pt x="6907465" y="4928451"/>
                  <a:pt x="5361146" y="6349975"/>
                  <a:pt x="3453733" y="6349975"/>
                </a:cubicBezTo>
                <a:cubicBezTo>
                  <a:pt x="1546291" y="6349975"/>
                  <a:pt x="0" y="4928451"/>
                  <a:pt x="0" y="3175025"/>
                </a:cubicBezTo>
                <a:cubicBezTo>
                  <a:pt x="0" y="1421511"/>
                  <a:pt x="1546291" y="0"/>
                  <a:pt x="3453733" y="0"/>
                </a:cubicBezTo>
                <a:cubicBezTo>
                  <a:pt x="5361174" y="0"/>
                  <a:pt x="6907465" y="1421511"/>
                  <a:pt x="6907465" y="3175025"/>
                </a:cubicBezTo>
                <a:close/>
              </a:path>
            </a:pathLst>
          </a:custGeom>
          <a:solidFill>
            <a:srgbClr val="050A3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1058746" y="4587322"/>
            <a:ext cx="4732455" cy="111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3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10013406" y="2213848"/>
            <a:ext cx="319604" cy="285896"/>
          </a:xfrm>
          <a:prstGeom prst="rect">
            <a:avLst/>
          </a:prstGeom>
          <a:solidFill>
            <a:srgbClr val="050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10013406" y="3716236"/>
            <a:ext cx="319604" cy="285896"/>
          </a:xfrm>
          <a:prstGeom prst="rect">
            <a:avLst/>
          </a:prstGeom>
          <a:solidFill>
            <a:srgbClr val="050A3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Contesto</a:t>
            </a:r>
            <a:endParaRPr/>
          </a:p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2467658" y="3770497"/>
            <a:ext cx="6140116" cy="4527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Fattori interni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Ambiente di lavoro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Cultura aziendale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Retribuzione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Run with solid fill" id="119" name="Google Shape;1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7"/>
          <p:cNvSpPr txBox="1"/>
          <p:nvPr/>
        </p:nvSpPr>
        <p:spPr>
          <a:xfrm>
            <a:off x="9240252" y="3782530"/>
            <a:ext cx="7036500" cy="4527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Fattori Esterni</a:t>
            </a:r>
            <a:endParaRPr b="0"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0" marL="685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Mercato del lavoro dinamico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0" marL="685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Settore o Professione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685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0" marL="685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Trend socio-culturali</a:t>
            </a:r>
            <a:endParaRPr b="0"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1335504" y="2533027"/>
            <a:ext cx="1526807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Cos’è il Turnover e perché è importante monitorarlo?</a:t>
            </a:r>
            <a:endParaRPr b="0" i="0" sz="3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1207168" y="8262287"/>
            <a:ext cx="1526807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 tasso di turnover fuori controllo può determinare una serie di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costi</a:t>
            </a:r>
            <a:r>
              <a:rPr b="0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 un impatto significativo sul business.</a:t>
            </a:r>
            <a:endParaRPr b="0" i="0" sz="3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Earth globe: Africa and Europe with solid fill" id="123" name="Google Shape;12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18331" y="357827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network with solid fill" id="124" name="Google Shape;12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1724" y="3577884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Obiettivi di ricerca</a:t>
            </a:r>
            <a:endParaRPr/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1143000" y="2476500"/>
            <a:ext cx="15925800" cy="6908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None/>
            </a:pPr>
            <a:r>
              <a:rPr lang="en-US"/>
              <a:t>Sviluppare un modello di Machine Learning in grado di stimare il rischio di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None/>
            </a:pPr>
            <a:r>
              <a:rPr lang="en-US"/>
              <a:t>abbandono da parte dei dipendenti.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0"/>
              <a:buNone/>
            </a:pPr>
            <a:r>
              <a:rPr lang="en-US"/>
              <a:t>              Visione Strategica sul personale 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0"/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0"/>
              <a:buNone/>
            </a:pPr>
            <a:r>
              <a:rPr lang="en-US"/>
              <a:t>              Azioni di retention «preventive»</a:t>
            </a:r>
            <a:endParaRPr/>
          </a:p>
          <a:p>
            <a:pPr indent="-342900" lvl="0" marL="685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0"/>
              <a:buFont typeface="Noto Sans Symbols"/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0"/>
              <a:buNone/>
            </a:pPr>
            <a:r>
              <a:rPr lang="en-US"/>
              <a:t>              Efficienza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None/>
            </a:pPr>
            <a:r>
              <a:rPr lang="en-US"/>
              <a:t>Lo strumento vorrà essere di supporto all’operatività del management, in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None/>
            </a:pPr>
            <a:r>
              <a:rPr lang="en-US"/>
              <a:t>particolare del team HR</a:t>
            </a:r>
            <a:endParaRPr/>
          </a:p>
        </p:txBody>
      </p:sp>
      <p:pic>
        <p:nvPicPr>
          <p:cNvPr descr="Run with solid fill" id="131" name="Google Shape;13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r graph with upward trend with solid fill" id="132" name="Google Shape;13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1097" y="6208294"/>
            <a:ext cx="733926" cy="733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ardroom with solid fill" id="133" name="Google Shape;13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6929" y="499711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brainstorm with solid fill" id="134" name="Google Shape;13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6929" y="381802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Dataset</a:t>
            </a:r>
            <a:endParaRPr/>
          </a:p>
        </p:txBody>
      </p:sp>
      <p:sp>
        <p:nvSpPr>
          <p:cNvPr id="140" name="Google Shape;140;p29"/>
          <p:cNvSpPr txBox="1"/>
          <p:nvPr>
            <p:ph idx="1" type="body"/>
          </p:nvPr>
        </p:nvSpPr>
        <p:spPr>
          <a:xfrm>
            <a:off x="1143000" y="2476500"/>
            <a:ext cx="15925800" cy="7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Il dataset contiene informazioni sui dipendenti di un’azienda, inclusi i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loro percorsi formativi, la storia lavorativa, i dati demografici e fattori legati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all’impiego.</a:t>
            </a:r>
            <a:endParaRPr/>
          </a:p>
        </p:txBody>
      </p:sp>
      <p:pic>
        <p:nvPicPr>
          <p:cNvPr id="141" name="Google Shape;14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0982" y="4339911"/>
            <a:ext cx="9990722" cy="535734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9"/>
          <p:cNvSpPr txBox="1"/>
          <p:nvPr/>
        </p:nvSpPr>
        <p:spPr>
          <a:xfrm>
            <a:off x="1540041" y="4652304"/>
            <a:ext cx="5120941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Variabili</a:t>
            </a:r>
            <a:endParaRPr b="0" i="0" sz="3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Education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JoiningYear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PaymentTier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EverBenched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ExperienceInCurrentDomain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LeaveOrNot</a:t>
            </a:r>
            <a:endParaRPr b="1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un with solid fill" id="143" name="Google Shape;14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9" title="Screenshot 2025-10-20 at 15.00.12.png"/>
          <p:cNvPicPr preferRelativeResize="0"/>
          <p:nvPr/>
        </p:nvPicPr>
        <p:blipFill rotWithShape="1">
          <a:blip r:embed="rId5">
            <a:alphaModFix amt="70000"/>
          </a:blip>
          <a:srcRect b="0" l="0" r="0" t="0"/>
          <a:stretch/>
        </p:blipFill>
        <p:spPr>
          <a:xfrm>
            <a:off x="15354402" y="721271"/>
            <a:ext cx="2273763" cy="995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/>
          <p:nvPr/>
        </p:nvSpPr>
        <p:spPr>
          <a:xfrm>
            <a:off x="10013406" y="5218624"/>
            <a:ext cx="319604" cy="285896"/>
          </a:xfrm>
          <a:prstGeom prst="rect">
            <a:avLst/>
          </a:prstGeom>
          <a:solidFill>
            <a:srgbClr val="050A3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0"/>
          <p:cNvSpPr/>
          <p:nvPr/>
        </p:nvSpPr>
        <p:spPr>
          <a:xfrm>
            <a:off x="10013406" y="6721012"/>
            <a:ext cx="319604" cy="285896"/>
          </a:xfrm>
          <a:prstGeom prst="rect">
            <a:avLst/>
          </a:prstGeom>
          <a:solidFill>
            <a:srgbClr val="050A3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30"/>
          <p:cNvGrpSpPr/>
          <p:nvPr/>
        </p:nvGrpSpPr>
        <p:grpSpPr>
          <a:xfrm>
            <a:off x="10999760" y="2025008"/>
            <a:ext cx="6402043" cy="628532"/>
            <a:chOff x="0" y="-38100"/>
            <a:chExt cx="8536056" cy="838044"/>
          </a:xfrm>
        </p:grpSpPr>
        <p:sp>
          <p:nvSpPr>
            <p:cNvPr id="152" name="Google Shape;152;p30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0"/>
            <p:cNvSpPr txBox="1"/>
            <p:nvPr/>
          </p:nvSpPr>
          <p:spPr>
            <a:xfrm>
              <a:off x="1345498" y="133350"/>
              <a:ext cx="7190558" cy="666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Contesto e Obiettivi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30"/>
          <p:cNvGrpSpPr/>
          <p:nvPr/>
        </p:nvGrpSpPr>
        <p:grpSpPr>
          <a:xfrm>
            <a:off x="10999760" y="3527397"/>
            <a:ext cx="6402043" cy="615618"/>
            <a:chOff x="0" y="-38100"/>
            <a:chExt cx="8536056" cy="820825"/>
          </a:xfrm>
        </p:grpSpPr>
        <p:sp>
          <p:nvSpPr>
            <p:cNvPr id="155" name="Google Shape;155;p30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0"/>
            <p:cNvSpPr txBox="1"/>
            <p:nvPr/>
          </p:nvSpPr>
          <p:spPr>
            <a:xfrm>
              <a:off x="1345498" y="133349"/>
              <a:ext cx="7190558" cy="5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Analisi e Pre-Processing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30"/>
          <p:cNvGrpSpPr/>
          <p:nvPr/>
        </p:nvGrpSpPr>
        <p:grpSpPr>
          <a:xfrm>
            <a:off x="10999760" y="5029785"/>
            <a:ext cx="6402043" cy="628532"/>
            <a:chOff x="0" y="-38100"/>
            <a:chExt cx="8536056" cy="838044"/>
          </a:xfrm>
        </p:grpSpPr>
        <p:sp>
          <p:nvSpPr>
            <p:cNvPr id="158" name="Google Shape;158;p30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0"/>
            <p:cNvSpPr txBox="1"/>
            <p:nvPr/>
          </p:nvSpPr>
          <p:spPr>
            <a:xfrm>
              <a:off x="1345498" y="133350"/>
              <a:ext cx="7190558" cy="666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Assessment tra Modelli e scelta</a:t>
              </a:r>
              <a:endParaRPr b="0" i="0" sz="2499" u="none" cap="none" strike="noStrike">
                <a:solidFill>
                  <a:srgbClr val="050A3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60" name="Google Shape;160;p30"/>
          <p:cNvGrpSpPr/>
          <p:nvPr/>
        </p:nvGrpSpPr>
        <p:grpSpPr>
          <a:xfrm>
            <a:off x="10999760" y="6532175"/>
            <a:ext cx="6402043" cy="628532"/>
            <a:chOff x="0" y="-38100"/>
            <a:chExt cx="8536056" cy="838044"/>
          </a:xfrm>
        </p:grpSpPr>
        <p:sp>
          <p:nvSpPr>
            <p:cNvPr id="161" name="Google Shape;161;p30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0"/>
            <p:cNvSpPr txBox="1"/>
            <p:nvPr/>
          </p:nvSpPr>
          <p:spPr>
            <a:xfrm>
              <a:off x="1345498" y="133350"/>
              <a:ext cx="7190558" cy="666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Conclusioni</a:t>
              </a:r>
              <a:endParaRPr b="0" i="0" sz="2499" u="none" cap="none" strike="noStrike">
                <a:solidFill>
                  <a:srgbClr val="050A3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3" name="Google Shape;163;p30"/>
          <p:cNvSpPr/>
          <p:nvPr/>
        </p:nvSpPr>
        <p:spPr>
          <a:xfrm>
            <a:off x="-5333999" y="-1498231"/>
            <a:ext cx="14023305" cy="13283465"/>
          </a:xfrm>
          <a:custGeom>
            <a:rect b="b" l="l" r="r" t="t"/>
            <a:pathLst>
              <a:path extrusionOk="0" h="6349975" w="6907465">
                <a:moveTo>
                  <a:pt x="6907465" y="3175025"/>
                </a:moveTo>
                <a:cubicBezTo>
                  <a:pt x="6907465" y="4928451"/>
                  <a:pt x="5361146" y="6349975"/>
                  <a:pt x="3453733" y="6349975"/>
                </a:cubicBezTo>
                <a:cubicBezTo>
                  <a:pt x="1546291" y="6349975"/>
                  <a:pt x="0" y="4928451"/>
                  <a:pt x="0" y="3175025"/>
                </a:cubicBezTo>
                <a:cubicBezTo>
                  <a:pt x="0" y="1421511"/>
                  <a:pt x="1546291" y="0"/>
                  <a:pt x="3453733" y="0"/>
                </a:cubicBezTo>
                <a:cubicBezTo>
                  <a:pt x="5361174" y="0"/>
                  <a:pt x="6907465" y="1421511"/>
                  <a:pt x="6907465" y="3175025"/>
                </a:cubicBezTo>
                <a:close/>
              </a:path>
            </a:pathLst>
          </a:custGeom>
          <a:solidFill>
            <a:srgbClr val="050A3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0"/>
          <p:cNvSpPr txBox="1"/>
          <p:nvPr/>
        </p:nvSpPr>
        <p:spPr>
          <a:xfrm>
            <a:off x="1058746" y="4587322"/>
            <a:ext cx="4732455" cy="111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3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0"/>
          <p:cNvSpPr/>
          <p:nvPr/>
        </p:nvSpPr>
        <p:spPr>
          <a:xfrm>
            <a:off x="10013406" y="2213848"/>
            <a:ext cx="319604" cy="28589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0"/>
          <p:cNvSpPr/>
          <p:nvPr/>
        </p:nvSpPr>
        <p:spPr>
          <a:xfrm>
            <a:off x="10013406" y="3743582"/>
            <a:ext cx="319604" cy="285896"/>
          </a:xfrm>
          <a:prstGeom prst="rect">
            <a:avLst/>
          </a:prstGeom>
          <a:solidFill>
            <a:srgbClr val="050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4fe25193b_0_0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Analisi VAR e Pre Processing - StatExplore</a:t>
            </a:r>
            <a:endParaRPr/>
          </a:p>
        </p:txBody>
      </p:sp>
      <p:pic>
        <p:nvPicPr>
          <p:cNvPr descr="A white background with black text&#10;&#10;AI-generated content may be incorrect." id="172" name="Google Shape;172;g394fe25193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173" y="6304548"/>
            <a:ext cx="16386662" cy="25667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g394fe25193b_0_0"/>
          <p:cNvGraphicFramePr/>
          <p:nvPr/>
        </p:nvGraphicFramePr>
        <p:xfrm>
          <a:off x="9672387" y="2505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{5B83853F-E72E-46F3-81C5-204D103E369A}</a:tableStyleId>
              </a:tblPr>
              <a:tblGrid>
                <a:gridCol w="3838975"/>
                <a:gridCol w="3941450"/>
              </a:tblGrid>
              <a:tr h="1642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Kurtosis (studio outlier)</a:t>
                      </a:r>
                      <a:endParaRPr sz="2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OK - NESSUNA AZIONE RICHIESTA</a:t>
                      </a:r>
                      <a:endParaRPr sz="2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88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9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Skewness</a:t>
                      </a:r>
                      <a:endParaRPr sz="2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Leggera asimmetria variable AGE</a:t>
                      </a:r>
                      <a:endParaRPr sz="2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Skewness=0.905</a:t>
                      </a:r>
                      <a:endParaRPr sz="2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pic>
        <p:nvPicPr>
          <p:cNvPr id="174" name="Google Shape;174;g394fe25193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741" y="2872457"/>
            <a:ext cx="8479763" cy="2794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un with solid fill" id="175" name="Google Shape;175;g394fe25193b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4fe25193b_0_13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Analisi VAR e Pre Processing - TransformVariable</a:t>
            </a:r>
            <a:endParaRPr/>
          </a:p>
        </p:txBody>
      </p:sp>
      <p:pic>
        <p:nvPicPr>
          <p:cNvPr id="181" name="Google Shape;181;g394fe25193b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502" y="1949310"/>
            <a:ext cx="7371377" cy="384188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94fe25193b_0_13"/>
          <p:cNvSpPr/>
          <p:nvPr/>
        </p:nvSpPr>
        <p:spPr>
          <a:xfrm>
            <a:off x="8477750" y="3791325"/>
            <a:ext cx="1185000" cy="69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g394fe25193b_0_13" title="Screenshot 2025-10-20 at 14.43.07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300" y="6184767"/>
            <a:ext cx="9213930" cy="35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94fe25193b_0_13"/>
          <p:cNvSpPr txBox="1"/>
          <p:nvPr/>
        </p:nvSpPr>
        <p:spPr>
          <a:xfrm>
            <a:off x="10692800" y="6229225"/>
            <a:ext cx="6632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Trasformazione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AGE</a:t>
            </a:r>
            <a:r>
              <a:rPr b="0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con Method </a:t>
            </a:r>
            <a:r>
              <a:rPr b="1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 10</a:t>
            </a:r>
            <a:r>
              <a:rPr b="0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per diminuire la Skewness</a:t>
            </a:r>
            <a:endParaRPr b="0"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Nuova skewness=0.700</a:t>
            </a:r>
            <a:endParaRPr b="0"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Standardizzazione di JoiningYear</a:t>
            </a:r>
            <a:endParaRPr b="0"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Run with solid fill" id="185" name="Google Shape;185;g394fe25193b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94fe25193b_0_13"/>
          <p:cNvPicPr preferRelativeResize="0"/>
          <p:nvPr/>
        </p:nvPicPr>
        <p:blipFill rotWithShape="1">
          <a:blip r:embed="rId6">
            <a:alphaModFix/>
          </a:blip>
          <a:srcRect b="792" l="0" r="555" t="1157"/>
          <a:stretch/>
        </p:blipFill>
        <p:spPr>
          <a:xfrm>
            <a:off x="9806621" y="1869099"/>
            <a:ext cx="7518877" cy="4093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Analisi VAR e Pre Processing - Correlation Matrix</a:t>
            </a:r>
            <a:endParaRPr/>
          </a:p>
        </p:txBody>
      </p:sp>
      <p:sp>
        <p:nvSpPr>
          <p:cNvPr id="192" name="Google Shape;192;p4"/>
          <p:cNvSpPr txBox="1"/>
          <p:nvPr>
            <p:ph idx="1" type="body"/>
          </p:nvPr>
        </p:nvSpPr>
        <p:spPr>
          <a:xfrm>
            <a:off x="1143000" y="2476500"/>
            <a:ext cx="15925800" cy="7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La matrice di correlazione mostra che le variabili non risultano essere collineari tra loro.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93" name="Google Shape;193;p4"/>
          <p:cNvPicPr preferRelativeResize="0"/>
          <p:nvPr/>
        </p:nvPicPr>
        <p:blipFill rotWithShape="1">
          <a:blip r:embed="rId3">
            <a:alphaModFix/>
          </a:blip>
          <a:srcRect b="0" l="793" r="0" t="0"/>
          <a:stretch/>
        </p:blipFill>
        <p:spPr>
          <a:xfrm>
            <a:off x="1143000" y="4186989"/>
            <a:ext cx="16002000" cy="3998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un with solid fill" id="194" name="Google Shape;19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b5345b2ac_0_1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Analisi VAR e Pre Processing - Feature Selection</a:t>
            </a:r>
            <a:endParaRPr/>
          </a:p>
        </p:txBody>
      </p:sp>
      <p:sp>
        <p:nvSpPr>
          <p:cNvPr id="200" name="Google Shape;200;g39b5345b2ac_0_1"/>
          <p:cNvSpPr txBox="1"/>
          <p:nvPr>
            <p:ph idx="1" type="body"/>
          </p:nvPr>
        </p:nvSpPr>
        <p:spPr>
          <a:xfrm>
            <a:off x="9108275" y="2449700"/>
            <a:ext cx="7960500" cy="7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/>
              <a:t>Il nodo Stat Explore indica che le variabili ‘EverBenched’, ‘Age’ e ‘ExperienceInCurrentDomain’ sono quelle che contribuiscono meno alla spiegazione del target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/>
              <a:t>Il nodo Feature Selection conferma il risultato, scartando le variabili menzionate, insieme a Education, a causa di un valore di R-quadro inferiore a 0.005, che indica che queste variabili spiegano meno dello 0.5% della varianza del target.</a:t>
            </a:r>
            <a:endParaRPr/>
          </a:p>
        </p:txBody>
      </p:sp>
      <p:pic>
        <p:nvPicPr>
          <p:cNvPr id="201" name="Google Shape;201;g39b5345b2ac_0_1"/>
          <p:cNvPicPr preferRelativeResize="0"/>
          <p:nvPr/>
        </p:nvPicPr>
        <p:blipFill rotWithShape="1">
          <a:blip r:embed="rId3">
            <a:alphaModFix/>
          </a:blip>
          <a:srcRect b="-671" l="-393" r="391" t="2426"/>
          <a:stretch/>
        </p:blipFill>
        <p:spPr>
          <a:xfrm>
            <a:off x="548144" y="2326104"/>
            <a:ext cx="8173578" cy="7037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un with solid fill" id="202" name="Google Shape;202;g39b5345b2ac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/>
          <p:nvPr/>
        </p:nvSpPr>
        <p:spPr>
          <a:xfrm>
            <a:off x="10008253" y="3692258"/>
            <a:ext cx="319604" cy="285896"/>
          </a:xfrm>
          <a:prstGeom prst="rect">
            <a:avLst/>
          </a:prstGeom>
          <a:solidFill>
            <a:srgbClr val="050A3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1"/>
          <p:cNvSpPr/>
          <p:nvPr/>
        </p:nvSpPr>
        <p:spPr>
          <a:xfrm>
            <a:off x="10013406" y="6721012"/>
            <a:ext cx="319604" cy="285896"/>
          </a:xfrm>
          <a:prstGeom prst="rect">
            <a:avLst/>
          </a:prstGeom>
          <a:solidFill>
            <a:srgbClr val="050A3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31"/>
          <p:cNvGrpSpPr/>
          <p:nvPr/>
        </p:nvGrpSpPr>
        <p:grpSpPr>
          <a:xfrm>
            <a:off x="10999760" y="2025008"/>
            <a:ext cx="6402043" cy="628532"/>
            <a:chOff x="0" y="-38100"/>
            <a:chExt cx="8536056" cy="838044"/>
          </a:xfrm>
        </p:grpSpPr>
        <p:sp>
          <p:nvSpPr>
            <p:cNvPr id="210" name="Google Shape;210;p31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1"/>
            <p:cNvSpPr txBox="1"/>
            <p:nvPr/>
          </p:nvSpPr>
          <p:spPr>
            <a:xfrm>
              <a:off x="1345498" y="133350"/>
              <a:ext cx="7190558" cy="666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Contesto e Obiettivi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31"/>
          <p:cNvGrpSpPr/>
          <p:nvPr/>
        </p:nvGrpSpPr>
        <p:grpSpPr>
          <a:xfrm>
            <a:off x="10999760" y="3527397"/>
            <a:ext cx="6402043" cy="615618"/>
            <a:chOff x="0" y="-38100"/>
            <a:chExt cx="8536056" cy="820825"/>
          </a:xfrm>
        </p:grpSpPr>
        <p:sp>
          <p:nvSpPr>
            <p:cNvPr id="213" name="Google Shape;213;p31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1"/>
            <p:cNvSpPr txBox="1"/>
            <p:nvPr/>
          </p:nvSpPr>
          <p:spPr>
            <a:xfrm>
              <a:off x="1345498" y="133349"/>
              <a:ext cx="7190558" cy="5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Analisi e Pre-Processing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31"/>
          <p:cNvGrpSpPr/>
          <p:nvPr/>
        </p:nvGrpSpPr>
        <p:grpSpPr>
          <a:xfrm>
            <a:off x="10999760" y="5029785"/>
            <a:ext cx="6402043" cy="628532"/>
            <a:chOff x="0" y="-38100"/>
            <a:chExt cx="8536056" cy="838044"/>
          </a:xfrm>
        </p:grpSpPr>
        <p:sp>
          <p:nvSpPr>
            <p:cNvPr id="216" name="Google Shape;216;p31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1"/>
            <p:cNvSpPr txBox="1"/>
            <p:nvPr/>
          </p:nvSpPr>
          <p:spPr>
            <a:xfrm>
              <a:off x="1345498" y="133350"/>
              <a:ext cx="7190558" cy="666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Assessment tra Modelli e scelta</a:t>
              </a:r>
              <a:endParaRPr b="0" i="0" sz="2499" u="none" cap="none" strike="noStrike">
                <a:solidFill>
                  <a:srgbClr val="050A3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8" name="Google Shape;218;p31"/>
          <p:cNvGrpSpPr/>
          <p:nvPr/>
        </p:nvGrpSpPr>
        <p:grpSpPr>
          <a:xfrm>
            <a:off x="10999760" y="6532175"/>
            <a:ext cx="6402043" cy="628532"/>
            <a:chOff x="0" y="-38100"/>
            <a:chExt cx="8536056" cy="838044"/>
          </a:xfrm>
        </p:grpSpPr>
        <p:sp>
          <p:nvSpPr>
            <p:cNvPr id="219" name="Google Shape;219;p31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1"/>
            <p:cNvSpPr txBox="1"/>
            <p:nvPr/>
          </p:nvSpPr>
          <p:spPr>
            <a:xfrm>
              <a:off x="1345498" y="133350"/>
              <a:ext cx="7190558" cy="666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Conclusioni</a:t>
              </a:r>
              <a:endParaRPr b="0" i="0" sz="2499" u="none" cap="none" strike="noStrike">
                <a:solidFill>
                  <a:srgbClr val="050A3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21" name="Google Shape;221;p31"/>
          <p:cNvSpPr/>
          <p:nvPr/>
        </p:nvSpPr>
        <p:spPr>
          <a:xfrm>
            <a:off x="-5333999" y="-1498231"/>
            <a:ext cx="14023305" cy="13283465"/>
          </a:xfrm>
          <a:custGeom>
            <a:rect b="b" l="l" r="r" t="t"/>
            <a:pathLst>
              <a:path extrusionOk="0" h="6349975" w="6907465">
                <a:moveTo>
                  <a:pt x="6907465" y="3175025"/>
                </a:moveTo>
                <a:cubicBezTo>
                  <a:pt x="6907465" y="4928451"/>
                  <a:pt x="5361146" y="6349975"/>
                  <a:pt x="3453733" y="6349975"/>
                </a:cubicBezTo>
                <a:cubicBezTo>
                  <a:pt x="1546291" y="6349975"/>
                  <a:pt x="0" y="4928451"/>
                  <a:pt x="0" y="3175025"/>
                </a:cubicBezTo>
                <a:cubicBezTo>
                  <a:pt x="0" y="1421511"/>
                  <a:pt x="1546291" y="0"/>
                  <a:pt x="3453733" y="0"/>
                </a:cubicBezTo>
                <a:cubicBezTo>
                  <a:pt x="5361174" y="0"/>
                  <a:pt x="6907465" y="1421511"/>
                  <a:pt x="6907465" y="3175025"/>
                </a:cubicBezTo>
                <a:close/>
              </a:path>
            </a:pathLst>
          </a:custGeom>
          <a:solidFill>
            <a:srgbClr val="050A3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1058746" y="4587322"/>
            <a:ext cx="4732455" cy="111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3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10013406" y="2213848"/>
            <a:ext cx="319604" cy="28589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10008253" y="5274517"/>
            <a:ext cx="319604" cy="285896"/>
          </a:xfrm>
          <a:prstGeom prst="rect">
            <a:avLst/>
          </a:prstGeom>
          <a:solidFill>
            <a:srgbClr val="050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c1bae2759_0_59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Creazione modelli</a:t>
            </a:r>
            <a:endParaRPr/>
          </a:p>
        </p:txBody>
      </p:sp>
      <p:pic>
        <p:nvPicPr>
          <p:cNvPr id="230" name="Google Shape;230;g39c1bae2759_0_59"/>
          <p:cNvPicPr preferRelativeResize="0"/>
          <p:nvPr/>
        </p:nvPicPr>
        <p:blipFill rotWithShape="1">
          <a:blip r:embed="rId3">
            <a:alphaModFix/>
          </a:blip>
          <a:srcRect b="0" l="1079" r="0" t="8056"/>
          <a:stretch/>
        </p:blipFill>
        <p:spPr>
          <a:xfrm>
            <a:off x="9518899" y="2087646"/>
            <a:ext cx="4427621" cy="335668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9c1bae2759_0_59"/>
          <p:cNvSpPr txBox="1"/>
          <p:nvPr/>
        </p:nvSpPr>
        <p:spPr>
          <a:xfrm>
            <a:off x="9507904" y="1610677"/>
            <a:ext cx="4203033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Decision Tree: Assesment Plot </a:t>
            </a:r>
            <a:endParaRPr b="1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g39c1bae2759_0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1636" y="6213984"/>
            <a:ext cx="5977718" cy="296277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9c1bae2759_0_59"/>
          <p:cNvSpPr txBox="1"/>
          <p:nvPr/>
        </p:nvSpPr>
        <p:spPr>
          <a:xfrm>
            <a:off x="9761636" y="5768401"/>
            <a:ext cx="39493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Bayesiano: Classification chart</a:t>
            </a:r>
            <a:endParaRPr b="1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Run with solid fill" id="234" name="Google Shape;234;g39c1bae2759_0_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9c1bae2759_0_59"/>
          <p:cNvPicPr preferRelativeResize="0"/>
          <p:nvPr/>
        </p:nvPicPr>
        <p:blipFill rotWithShape="1">
          <a:blip r:embed="rId6">
            <a:alphaModFix/>
          </a:blip>
          <a:srcRect b="2372" l="32795" r="25191" t="15271"/>
          <a:stretch/>
        </p:blipFill>
        <p:spPr>
          <a:xfrm>
            <a:off x="1215625" y="2116667"/>
            <a:ext cx="6808635" cy="71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9c1bae2759_0_59"/>
          <p:cNvSpPr txBox="1"/>
          <p:nvPr/>
        </p:nvSpPr>
        <p:spPr>
          <a:xfrm>
            <a:off x="12459284" y="2303002"/>
            <a:ext cx="16376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 Leaves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g39c1bae2759_0_59"/>
          <p:cNvSpPr/>
          <p:nvPr/>
        </p:nvSpPr>
        <p:spPr>
          <a:xfrm>
            <a:off x="1215625" y="3344800"/>
            <a:ext cx="1295400" cy="497305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9c1bae2759_0_59"/>
          <p:cNvSpPr/>
          <p:nvPr/>
        </p:nvSpPr>
        <p:spPr>
          <a:xfrm>
            <a:off x="4199457" y="2175622"/>
            <a:ext cx="1295400" cy="497305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9c1bae2759_0_59"/>
          <p:cNvSpPr/>
          <p:nvPr/>
        </p:nvSpPr>
        <p:spPr>
          <a:xfrm>
            <a:off x="4199457" y="4947026"/>
            <a:ext cx="1295400" cy="497305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9c1bae2759_0_59"/>
          <p:cNvSpPr txBox="1"/>
          <p:nvPr/>
        </p:nvSpPr>
        <p:spPr>
          <a:xfrm>
            <a:off x="9761636" y="9167506"/>
            <a:ext cx="43352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Error rate di training e validation ca. 16%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bbba3f579_0_0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Assessment modelli - ROC</a:t>
            </a:r>
            <a:endParaRPr/>
          </a:p>
        </p:txBody>
      </p:sp>
      <p:sp>
        <p:nvSpPr>
          <p:cNvPr id="246" name="Google Shape;246;g39bbba3f579_0_0"/>
          <p:cNvSpPr txBox="1"/>
          <p:nvPr/>
        </p:nvSpPr>
        <p:spPr>
          <a:xfrm>
            <a:off x="13177456" y="3087750"/>
            <a:ext cx="3377997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HP_DM FOREST 1OO </a:t>
            </a:r>
            <a:r>
              <a:rPr b="0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mostra ottime performance su </a:t>
            </a: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r>
              <a:rPr b="0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ma un calo significativo in </a:t>
            </a: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indicando </a:t>
            </a:r>
            <a:r>
              <a:rPr b="1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OVERFITTING</a:t>
            </a:r>
            <a:r>
              <a:rPr b="0" i="0" lang="en-US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scarsa capacità di generalizzazione.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7" name="Google Shape;247;g39bbba3f579_0_0" title="Screenshot 2025-10-22 at 21.22.1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197768"/>
            <a:ext cx="10679007" cy="773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un with solid fill" id="248" name="Google Shape;248;g39bbba3f579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9bbba3f579_0_0"/>
          <p:cNvPicPr preferRelativeResize="0"/>
          <p:nvPr/>
        </p:nvPicPr>
        <p:blipFill rotWithShape="1">
          <a:blip r:embed="rId5">
            <a:alphaModFix/>
          </a:blip>
          <a:srcRect b="52949" l="71359" r="8907" t="26965"/>
          <a:stretch/>
        </p:blipFill>
        <p:spPr>
          <a:xfrm>
            <a:off x="14188026" y="647700"/>
            <a:ext cx="2880774" cy="1439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c1bae2759_0_13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Assessment modelli - AUC</a:t>
            </a:r>
            <a:endParaRPr/>
          </a:p>
        </p:txBody>
      </p:sp>
      <p:sp>
        <p:nvSpPr>
          <p:cNvPr id="255" name="Google Shape;255;g39c1bae2759_0_13"/>
          <p:cNvSpPr txBox="1"/>
          <p:nvPr/>
        </p:nvSpPr>
        <p:spPr>
          <a:xfrm>
            <a:off x="8404175" y="1790700"/>
            <a:ext cx="2724600" cy="46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0"/>
              <a:buFont typeface="Arial"/>
              <a:buNone/>
            </a:pPr>
            <a:r>
              <a:t/>
            </a:r>
            <a:endParaRPr b="0" i="0" sz="30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6" name="Google Shape;256;g39c1bae2759_0_13" title="Screenshot 2025-10-22 at 21.27.4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398775"/>
            <a:ext cx="155448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9c1bae2759_0_13" title="Screenshot 2025-10-22 at 21.27.5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8150" y="4966550"/>
            <a:ext cx="155638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9c1bae2759_0_13"/>
          <p:cNvSpPr/>
          <p:nvPr/>
        </p:nvSpPr>
        <p:spPr>
          <a:xfrm>
            <a:off x="1195650" y="4219475"/>
            <a:ext cx="15439500" cy="389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g39c1bae2759_0_13"/>
          <p:cNvSpPr/>
          <p:nvPr/>
        </p:nvSpPr>
        <p:spPr>
          <a:xfrm>
            <a:off x="1233750" y="6420300"/>
            <a:ext cx="15439500" cy="389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g39c1bae2759_0_13"/>
          <p:cNvSpPr txBox="1"/>
          <p:nvPr/>
        </p:nvSpPr>
        <p:spPr>
          <a:xfrm>
            <a:off x="1233750" y="7045125"/>
            <a:ext cx="9544200" cy="17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Nonostante i modelli presentino valori di AUC* comparabili, il modello Bayesiano </a:t>
            </a:r>
            <a:r>
              <a:rPr b="1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HPBNC</a:t>
            </a:r>
            <a:r>
              <a:rPr b="0" i="0" lang="en-US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evidenzia una maggiore robustezza.</a:t>
            </a:r>
            <a:endParaRPr b="0"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g39c1bae2759_0_13"/>
          <p:cNvSpPr txBox="1"/>
          <p:nvPr/>
        </p:nvSpPr>
        <p:spPr>
          <a:xfrm>
            <a:off x="1211975" y="9198100"/>
            <a:ext cx="146955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ROC Index — the area under the test data Receiver Operating Characteristic curve. SAS® Enterprise Miner 12.1® Reference Help Second Edition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g39c1bae2759_0_13"/>
          <p:cNvSpPr/>
          <p:nvPr/>
        </p:nvSpPr>
        <p:spPr>
          <a:xfrm>
            <a:off x="11816875" y="2229090"/>
            <a:ext cx="1579800" cy="4902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Run with solid fill" id="263" name="Google Shape;263;g39c1bae2759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Assessment Modelli - ASE</a:t>
            </a:r>
            <a:endParaRPr/>
          </a:p>
        </p:txBody>
      </p:sp>
      <p:sp>
        <p:nvSpPr>
          <p:cNvPr id="269" name="Google Shape;269;p5"/>
          <p:cNvSpPr txBox="1"/>
          <p:nvPr/>
        </p:nvSpPr>
        <p:spPr>
          <a:xfrm>
            <a:off x="476225" y="5820745"/>
            <a:ext cx="3829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Rule of thumb</a:t>
            </a:r>
            <a:endParaRPr b="1" i="0" sz="2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5"/>
          <p:cNvSpPr txBox="1"/>
          <p:nvPr/>
        </p:nvSpPr>
        <p:spPr>
          <a:xfrm>
            <a:off x="1764363" y="8759238"/>
            <a:ext cx="34290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OVERFITTING</a:t>
            </a:r>
            <a:endParaRPr b="1" i="0" sz="32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1" name="Google Shape;2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4090" y="2119175"/>
            <a:ext cx="15363610" cy="34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"/>
          <p:cNvSpPr/>
          <p:nvPr/>
        </p:nvSpPr>
        <p:spPr>
          <a:xfrm>
            <a:off x="15184200" y="2065420"/>
            <a:ext cx="1603500" cy="347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10551950" y="2065420"/>
            <a:ext cx="1603500" cy="347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74" name="Google Shape;274;p5"/>
          <p:cNvGraphicFramePr/>
          <p:nvPr/>
        </p:nvGraphicFramePr>
        <p:xfrm>
          <a:off x="1667700" y="6743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{5B83853F-E72E-46F3-81C5-204D103E369A}</a:tableStyleId>
              </a:tblPr>
              <a:tblGrid>
                <a:gridCol w="3780000"/>
                <a:gridCol w="3780000"/>
                <a:gridCol w="3780000"/>
                <a:gridCol w="3780000"/>
              </a:tblGrid>
              <a:tr h="102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HP Forest_100 </a:t>
                      </a:r>
                      <a:endParaRPr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HP BN Classifier </a:t>
                      </a:r>
                      <a:endParaRPr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08571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DECISION TREE</a:t>
                      </a:r>
                      <a:endParaRPr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HP Forest_Filtered 100</a:t>
                      </a:r>
                      <a:endParaRPr sz="2600" u="none" cap="none" strike="noStrike"/>
                    </a:p>
                  </a:txBody>
                  <a:tcPr marT="91425" marB="91425" marR="91425" marL="91425"/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50,5 %</a:t>
                      </a:r>
                      <a:endParaRPr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08571" lvl="0" marL="4085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1.128 %</a:t>
                      </a:r>
                      <a:endParaRPr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408569" lvl="0" marL="12257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5,23 %</a:t>
                      </a:r>
                      <a:endParaRPr sz="2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4,04 %</a:t>
                      </a:r>
                      <a:endParaRPr sz="2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Run with solid fill" id="275" name="Google Shape;2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/>
          <p:nvPr/>
        </p:nvSpPr>
        <p:spPr>
          <a:xfrm>
            <a:off x="10008253" y="3692258"/>
            <a:ext cx="319604" cy="285896"/>
          </a:xfrm>
          <a:prstGeom prst="rect">
            <a:avLst/>
          </a:prstGeom>
          <a:solidFill>
            <a:srgbClr val="050A3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10008253" y="5265396"/>
            <a:ext cx="319604" cy="285896"/>
          </a:xfrm>
          <a:prstGeom prst="rect">
            <a:avLst/>
          </a:prstGeom>
          <a:solidFill>
            <a:srgbClr val="050A3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" name="Google Shape;282;p32"/>
          <p:cNvGrpSpPr/>
          <p:nvPr/>
        </p:nvGrpSpPr>
        <p:grpSpPr>
          <a:xfrm>
            <a:off x="10999760" y="2025008"/>
            <a:ext cx="6402043" cy="628532"/>
            <a:chOff x="0" y="-38100"/>
            <a:chExt cx="8536056" cy="838044"/>
          </a:xfrm>
        </p:grpSpPr>
        <p:sp>
          <p:nvSpPr>
            <p:cNvPr id="283" name="Google Shape;283;p32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2"/>
            <p:cNvSpPr txBox="1"/>
            <p:nvPr/>
          </p:nvSpPr>
          <p:spPr>
            <a:xfrm>
              <a:off x="1345498" y="133350"/>
              <a:ext cx="7190558" cy="666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Contesto e Obiettivi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p32"/>
          <p:cNvGrpSpPr/>
          <p:nvPr/>
        </p:nvGrpSpPr>
        <p:grpSpPr>
          <a:xfrm>
            <a:off x="10999760" y="3527397"/>
            <a:ext cx="6402043" cy="615618"/>
            <a:chOff x="0" y="-38100"/>
            <a:chExt cx="8536056" cy="820825"/>
          </a:xfrm>
        </p:grpSpPr>
        <p:sp>
          <p:nvSpPr>
            <p:cNvPr id="286" name="Google Shape;286;p32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2"/>
            <p:cNvSpPr txBox="1"/>
            <p:nvPr/>
          </p:nvSpPr>
          <p:spPr>
            <a:xfrm>
              <a:off x="1345498" y="133349"/>
              <a:ext cx="7190558" cy="5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Analisi e Pre-Processing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32"/>
          <p:cNvGrpSpPr/>
          <p:nvPr/>
        </p:nvGrpSpPr>
        <p:grpSpPr>
          <a:xfrm>
            <a:off x="10999760" y="5029785"/>
            <a:ext cx="6402043" cy="628532"/>
            <a:chOff x="0" y="-38100"/>
            <a:chExt cx="8536056" cy="838044"/>
          </a:xfrm>
        </p:grpSpPr>
        <p:sp>
          <p:nvSpPr>
            <p:cNvPr id="289" name="Google Shape;289;p32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2"/>
            <p:cNvSpPr txBox="1"/>
            <p:nvPr/>
          </p:nvSpPr>
          <p:spPr>
            <a:xfrm>
              <a:off x="1345498" y="133350"/>
              <a:ext cx="7190558" cy="666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Assessment tra Modelli e scelta</a:t>
              </a:r>
              <a:endParaRPr b="0" i="0" sz="2499" u="none" cap="none" strike="noStrike">
                <a:solidFill>
                  <a:srgbClr val="050A3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91" name="Google Shape;291;p32"/>
          <p:cNvGrpSpPr/>
          <p:nvPr/>
        </p:nvGrpSpPr>
        <p:grpSpPr>
          <a:xfrm>
            <a:off x="10999760" y="6532175"/>
            <a:ext cx="6402043" cy="628532"/>
            <a:chOff x="0" y="-38100"/>
            <a:chExt cx="8536056" cy="838044"/>
          </a:xfrm>
        </p:grpSpPr>
        <p:sp>
          <p:nvSpPr>
            <p:cNvPr id="292" name="Google Shape;292;p32"/>
            <p:cNvSpPr txBox="1"/>
            <p:nvPr/>
          </p:nvSpPr>
          <p:spPr>
            <a:xfrm>
              <a:off x="0" y="-38100"/>
              <a:ext cx="1027877" cy="82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49"/>
                <a:buFont typeface="Arial"/>
                <a:buNone/>
              </a:pPr>
              <a:r>
                <a:rPr b="0" i="0" lang="en-US" sz="394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2"/>
            <p:cNvSpPr txBox="1"/>
            <p:nvPr/>
          </p:nvSpPr>
          <p:spPr>
            <a:xfrm>
              <a:off x="1345498" y="133350"/>
              <a:ext cx="7190558" cy="666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050A3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Conclusioni</a:t>
              </a:r>
              <a:endParaRPr b="0" i="0" sz="2499" u="none" cap="none" strike="noStrike">
                <a:solidFill>
                  <a:srgbClr val="050A3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94" name="Google Shape;294;p32"/>
          <p:cNvSpPr/>
          <p:nvPr/>
        </p:nvSpPr>
        <p:spPr>
          <a:xfrm>
            <a:off x="-5333999" y="-1498231"/>
            <a:ext cx="14023305" cy="13283465"/>
          </a:xfrm>
          <a:custGeom>
            <a:rect b="b" l="l" r="r" t="t"/>
            <a:pathLst>
              <a:path extrusionOk="0" h="6349975" w="6907465">
                <a:moveTo>
                  <a:pt x="6907465" y="3175025"/>
                </a:moveTo>
                <a:cubicBezTo>
                  <a:pt x="6907465" y="4928451"/>
                  <a:pt x="5361146" y="6349975"/>
                  <a:pt x="3453733" y="6349975"/>
                </a:cubicBezTo>
                <a:cubicBezTo>
                  <a:pt x="1546291" y="6349975"/>
                  <a:pt x="0" y="4928451"/>
                  <a:pt x="0" y="3175025"/>
                </a:cubicBezTo>
                <a:cubicBezTo>
                  <a:pt x="0" y="1421511"/>
                  <a:pt x="1546291" y="0"/>
                  <a:pt x="3453733" y="0"/>
                </a:cubicBezTo>
                <a:cubicBezTo>
                  <a:pt x="5361174" y="0"/>
                  <a:pt x="6907465" y="1421511"/>
                  <a:pt x="6907465" y="3175025"/>
                </a:cubicBezTo>
                <a:close/>
              </a:path>
            </a:pathLst>
          </a:custGeom>
          <a:solidFill>
            <a:srgbClr val="050A3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2"/>
          <p:cNvSpPr txBox="1"/>
          <p:nvPr/>
        </p:nvSpPr>
        <p:spPr>
          <a:xfrm>
            <a:off x="1058746" y="4587322"/>
            <a:ext cx="4732455" cy="111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3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2"/>
          <p:cNvSpPr/>
          <p:nvPr/>
        </p:nvSpPr>
        <p:spPr>
          <a:xfrm>
            <a:off x="10013406" y="2213848"/>
            <a:ext cx="319604" cy="28589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2"/>
          <p:cNvSpPr/>
          <p:nvPr/>
        </p:nvSpPr>
        <p:spPr>
          <a:xfrm>
            <a:off x="10008253" y="6695586"/>
            <a:ext cx="319604" cy="285896"/>
          </a:xfrm>
          <a:prstGeom prst="rect">
            <a:avLst/>
          </a:prstGeom>
          <a:solidFill>
            <a:srgbClr val="050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Conclusioni - Cutoff</a:t>
            </a:r>
            <a:endParaRPr/>
          </a:p>
        </p:txBody>
      </p:sp>
      <p:sp>
        <p:nvSpPr>
          <p:cNvPr id="303" name="Google Shape;303;p7"/>
          <p:cNvSpPr txBox="1"/>
          <p:nvPr/>
        </p:nvSpPr>
        <p:spPr>
          <a:xfrm>
            <a:off x="12467058" y="3242225"/>
            <a:ext cx="4985750" cy="4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Scelgo la </a:t>
            </a:r>
            <a:r>
              <a:rPr b="1" i="0" lang="en-US" sz="3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soglia 0,29</a:t>
            </a:r>
            <a:r>
              <a:rPr b="0" i="0" lang="en-US" sz="3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come punto di intersezione per massimizzare </a:t>
            </a:r>
            <a:r>
              <a:rPr b="1" i="0" lang="en-US" sz="3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SENSITIVITY</a:t>
            </a:r>
            <a:r>
              <a:rPr b="0" i="0" lang="en-US" sz="3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(TPR) e </a:t>
            </a:r>
            <a:r>
              <a:rPr b="1" i="0" lang="en-US" sz="3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SPECIFICITY</a:t>
            </a:r>
            <a:r>
              <a:rPr b="0" i="0" lang="en-US" sz="3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(TNR).</a:t>
            </a:r>
            <a:endParaRPr b="0" i="0" sz="3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4" name="Google Shape;304;p7" title="Screenshot 2025-10-22 at 21.35.1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687501"/>
            <a:ext cx="10624352" cy="60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un with solid fill" id="305" name="Google Shape;3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7"/>
          <p:cNvPicPr preferRelativeResize="0"/>
          <p:nvPr/>
        </p:nvPicPr>
        <p:blipFill rotWithShape="1">
          <a:blip r:embed="rId5">
            <a:alphaModFix/>
          </a:blip>
          <a:srcRect b="49427" l="81258" r="1642" t="26171"/>
          <a:stretch/>
        </p:blipFill>
        <p:spPr>
          <a:xfrm>
            <a:off x="14480182" y="393395"/>
            <a:ext cx="2733643" cy="2041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bbba3f579_0_16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Conclusioni</a:t>
            </a:r>
            <a:endParaRPr/>
          </a:p>
        </p:txBody>
      </p:sp>
      <p:sp>
        <p:nvSpPr>
          <p:cNvPr id="312" name="Google Shape;312;g39bbba3f579_0_16"/>
          <p:cNvSpPr txBox="1"/>
          <p:nvPr>
            <p:ph idx="1" type="body"/>
          </p:nvPr>
        </p:nvSpPr>
        <p:spPr>
          <a:xfrm>
            <a:off x="1143000" y="2053899"/>
            <a:ext cx="15925800" cy="77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3000"/>
              <a:t>La</a:t>
            </a:r>
            <a:r>
              <a:rPr b="1" lang="en-US" sz="3000"/>
              <a:t> scelta del modello</a:t>
            </a:r>
            <a:r>
              <a:rPr lang="en-US" sz="3000"/>
              <a:t> bayesiano si è basata principalmente su parametri statistici di performance. Tuttavia, l’albero decisionale/foresta, pur avendo una prestazione leggermente inferiore (differenza di 0.02), offre vantaggi significativi (robusto in caso di dati mai visti prima, facilità di interpretazione e richiede un pre-processing dei dati meno complesso) rendendolo un’opzione valida e competitiva.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3000"/>
              <a:t>La </a:t>
            </a:r>
            <a:r>
              <a:rPr b="1" lang="en-US" sz="3000"/>
              <a:t>soglia di cutoff </a:t>
            </a:r>
            <a:r>
              <a:rPr lang="en-US" sz="3000"/>
              <a:t>può essere regolata in base agli obiettivi specifici del modello. Poiché non disponiamo di una conoscenza del dominio, abbiamo optato per una soglia più conservativa. Se invece l’obiettivo fosse minimizzare i costi legati al turnover, sarebbe sensato ridurre la soglia, dando più importanza alla SENSITIVITY.</a:t>
            </a:r>
            <a:endParaRPr sz="3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3000"/>
              <a:t>Per rendere il modello più completo sarebbe opportuno integrare la </a:t>
            </a:r>
            <a:r>
              <a:rPr b="1" lang="en-US" sz="3000"/>
              <a:t>matrice di costi</a:t>
            </a:r>
            <a:r>
              <a:rPr lang="en-US" sz="3000"/>
              <a:t>.</a:t>
            </a:r>
            <a:endParaRPr sz="3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Run with solid fill" id="313" name="Google Shape;313;g39bbba3f579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84792" y="8871284"/>
            <a:ext cx="768016" cy="76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"/>
          <p:cNvSpPr txBox="1"/>
          <p:nvPr>
            <p:ph type="title"/>
          </p:nvPr>
        </p:nvSpPr>
        <p:spPr>
          <a:xfrm>
            <a:off x="1143000" y="647700"/>
            <a:ext cx="1592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Medium"/>
              <a:buNone/>
            </a:pPr>
            <a:r>
              <a:rPr lang="en-US"/>
              <a:t>SAS Miner – Process Flow Diagram</a:t>
            </a:r>
            <a:endParaRPr/>
          </a:p>
        </p:txBody>
      </p:sp>
      <p:pic>
        <p:nvPicPr>
          <p:cNvPr id="319" name="Google Shape;319;p1"/>
          <p:cNvPicPr preferRelativeResize="0"/>
          <p:nvPr/>
        </p:nvPicPr>
        <p:blipFill rotWithShape="1">
          <a:blip r:embed="rId3">
            <a:alphaModFix/>
          </a:blip>
          <a:srcRect b="0" l="3125" r="1642" t="13666"/>
          <a:stretch/>
        </p:blipFill>
        <p:spPr>
          <a:xfrm>
            <a:off x="914400" y="2458453"/>
            <a:ext cx="15223959" cy="7224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70142" y="8807189"/>
            <a:ext cx="1747837" cy="1061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/>
          <p:nvPr/>
        </p:nvSpPr>
        <p:spPr>
          <a:xfrm>
            <a:off x="8920262" y="-1181099"/>
            <a:ext cx="13664394" cy="13283465"/>
          </a:xfrm>
          <a:custGeom>
            <a:rect b="b" l="l" r="r" t="t"/>
            <a:pathLst>
              <a:path extrusionOk="0" h="6349975" w="6532073">
                <a:moveTo>
                  <a:pt x="6532073" y="3175025"/>
                </a:moveTo>
                <a:cubicBezTo>
                  <a:pt x="6532073" y="4928451"/>
                  <a:pt x="5069791" y="6349975"/>
                  <a:pt x="3266037" y="6349975"/>
                </a:cubicBezTo>
                <a:cubicBezTo>
                  <a:pt x="1462257" y="6349975"/>
                  <a:pt x="0" y="4928451"/>
                  <a:pt x="0" y="3175025"/>
                </a:cubicBezTo>
                <a:cubicBezTo>
                  <a:pt x="0" y="1421511"/>
                  <a:pt x="1462257" y="0"/>
                  <a:pt x="3266037" y="0"/>
                </a:cubicBezTo>
                <a:cubicBezTo>
                  <a:pt x="5069817" y="0"/>
                  <a:pt x="6532073" y="1421511"/>
                  <a:pt x="6532073" y="3175025"/>
                </a:cubicBezTo>
                <a:close/>
              </a:path>
            </a:pathLst>
          </a:custGeom>
          <a:solidFill>
            <a:srgbClr val="050A3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1196892" y="2819020"/>
            <a:ext cx="7854272" cy="153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0" i="0" lang="en-US" sz="10400" u="none" cap="none" strike="noStrike">
                <a:solidFill>
                  <a:srgbClr val="050A30"/>
                </a:solidFill>
                <a:latin typeface="Montserrat"/>
                <a:ea typeface="Montserrat"/>
                <a:cs typeface="Montserrat"/>
                <a:sym typeface="Montserrat"/>
              </a:rPr>
              <a:t>Grazie!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3"/>
          <p:cNvSpPr txBox="1"/>
          <p:nvPr/>
        </p:nvSpPr>
        <p:spPr>
          <a:xfrm>
            <a:off x="3893473" y="8000229"/>
            <a:ext cx="10823847" cy="1726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Giovanna Pichierri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Andrea De Tomasi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Gianluca Chiarello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12206380" y="9208894"/>
            <a:ext cx="11686879" cy="575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Statistical Modelling and Machine Learning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33"/>
          <p:cNvPicPr preferRelativeResize="0"/>
          <p:nvPr/>
        </p:nvPicPr>
        <p:blipFill rotWithShape="1">
          <a:blip r:embed="rId3">
            <a:alphaModFix/>
          </a:blip>
          <a:srcRect b="0" l="57911" r="0" t="0"/>
          <a:stretch/>
        </p:blipFill>
        <p:spPr>
          <a:xfrm>
            <a:off x="1044492" y="7733424"/>
            <a:ext cx="1925059" cy="199343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3"/>
          <p:cNvSpPr txBox="1"/>
          <p:nvPr/>
        </p:nvSpPr>
        <p:spPr>
          <a:xfrm>
            <a:off x="1044492" y="534545"/>
            <a:ext cx="7547247" cy="575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24 Ottobre 2025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erson running through doors&#10;&#10;AI-generated content may be incorrect." id="331" name="Google Shape;331;p33"/>
          <p:cNvPicPr preferRelativeResize="0"/>
          <p:nvPr/>
        </p:nvPicPr>
        <p:blipFill rotWithShape="1">
          <a:blip r:embed="rId4">
            <a:alphaModFix amt="89000"/>
          </a:blip>
          <a:srcRect b="0" l="0" r="0" t="0"/>
          <a:stretch/>
        </p:blipFill>
        <p:spPr>
          <a:xfrm>
            <a:off x="8807968" y="684351"/>
            <a:ext cx="10577389" cy="7049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L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